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awra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970356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566928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NAWRAS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950976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2FBF87"/>
                </a:solidFill>
                <a:latin typeface="Calibri"/>
              </a:rPr>
              <a:t>Plan • Validate •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1005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Cambria"/>
              </a:rPr>
              <a:t>Audit To-Do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3832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2200" b="1">
                <a:solidFill>
                  <a:srgbClr val="11A8AB"/>
                </a:solidFill>
                <a:latin typeface="Calibri"/>
              </a:rPr>
              <a:t>Obeikan Plastic  ·  FY2025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50208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Generated from the live NAWRAS audit platform — outstanding items across the Five-Box Model.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4937760"/>
            <a:ext cx="201168" cy="201168"/>
          </a:xfrm>
          <a:prstGeom prst="ellipse">
            <a:avLst/>
          </a:prstGeom>
          <a:solidFill>
            <a:srgbClr val="2FB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4937760"/>
            <a:ext cx="201168" cy="201168"/>
          </a:xfrm>
          <a:prstGeom prst="ellipse">
            <a:avLst/>
          </a:prstGeom>
          <a:solidFill>
            <a:srgbClr val="11A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4937760"/>
            <a:ext cx="201168" cy="201168"/>
          </a:xfrm>
          <a:prstGeom prst="ellipse">
            <a:avLst/>
          </a:prstGeom>
          <a:solidFill>
            <a:srgbClr val="15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91056" y="4937760"/>
            <a:ext cx="201168" cy="201168"/>
          </a:xfrm>
          <a:prstGeom prst="ellipse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01952" y="4937760"/>
            <a:ext cx="201168" cy="201168"/>
          </a:xfrm>
          <a:prstGeom prst="ellipse">
            <a:avLst/>
          </a:prstGeom>
          <a:solidFill>
            <a:srgbClr val="1C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mbria"/>
              </a:rP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Six worklists compiled from the current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502152" cy="1783080"/>
          </a:xfrm>
          <a:prstGeom prst="roundRect">
            <a:avLst>
              <a:gd name="adj" fmla="val 10000"/>
            </a:avLst>
          </a:prstGeom>
          <a:solidFill>
            <a:srgbClr val="EAF9F3"/>
          </a:solidFill>
          <a:ln w="12700">
            <a:solidFill>
              <a:srgbClr val="97DF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965960"/>
            <a:ext cx="310896" cy="310896"/>
          </a:xfrm>
          <a:prstGeom prst="ellipse">
            <a:avLst/>
          </a:prstGeom>
          <a:solidFill>
            <a:srgbClr val="2FB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95144"/>
            <a:ext cx="313639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4600" b="1">
                <a:solidFill>
                  <a:srgbClr val="2FBF87"/>
                </a:solidFill>
                <a:latin typeface="Cambria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3099816" cy="34747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Priority pending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691640"/>
            <a:ext cx="3502152" cy="1783080"/>
          </a:xfrm>
          <a:prstGeom prst="roundRect">
            <a:avLst>
              <a:gd name="adj" fmla="val 10000"/>
            </a:avLst>
          </a:prstGeom>
          <a:solidFill>
            <a:srgbClr val="E7F6F7"/>
          </a:solidFill>
          <a:ln w="12700">
            <a:solidFill>
              <a:srgbClr val="88D4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81144" y="1965960"/>
            <a:ext cx="310896" cy="310896"/>
          </a:xfrm>
          <a:prstGeom prst="ellipse">
            <a:avLst/>
          </a:prstGeom>
          <a:solidFill>
            <a:srgbClr val="11A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2295144"/>
            <a:ext cx="313639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4600" b="1">
                <a:solidFill>
                  <a:srgbClr val="11A8AB"/>
                </a:solidFill>
                <a:latin typeface="Cambria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3063240"/>
            <a:ext cx="3099816" cy="34747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Open / pending tickets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691640"/>
            <a:ext cx="3502152" cy="1783080"/>
          </a:xfrm>
          <a:prstGeom prst="roundRect">
            <a:avLst>
              <a:gd name="adj" fmla="val 10000"/>
            </a:avLst>
          </a:prstGeom>
          <a:solidFill>
            <a:srgbClr val="E8F4F8"/>
          </a:solidFill>
          <a:ln w="12700">
            <a:solidFill>
              <a:srgbClr val="8AC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57615" y="1965960"/>
            <a:ext cx="310896" cy="310896"/>
          </a:xfrm>
          <a:prstGeom prst="ellipse">
            <a:avLst/>
          </a:prstGeom>
          <a:solidFill>
            <a:srgbClr val="15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3" y="2295144"/>
            <a:ext cx="313639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4600" b="1">
                <a:solidFill>
                  <a:srgbClr val="1594B8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063240"/>
            <a:ext cx="3099816" cy="34747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Missing required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4760"/>
            <a:ext cx="3502152" cy="178308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2700">
            <a:solidFill>
              <a:srgbClr val="96B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2" y="4069080"/>
            <a:ext cx="310896" cy="310896"/>
          </a:xfrm>
          <a:prstGeom prst="ellipse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98264"/>
            <a:ext cx="313639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4600" b="1">
                <a:solidFill>
                  <a:srgbClr val="2E7FC2"/>
                </a:solidFill>
                <a:latin typeface="Cambria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166360"/>
            <a:ext cx="3099816" cy="34747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Confirmations to send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3794760"/>
            <a:ext cx="3502152" cy="1783080"/>
          </a:xfrm>
          <a:prstGeom prst="roundRect">
            <a:avLst>
              <a:gd name="adj" fmla="val 10000"/>
            </a:avLst>
          </a:prstGeom>
          <a:solidFill>
            <a:srgbClr val="E8EFF4"/>
          </a:solidFill>
          <a:ln w="12700">
            <a:solidFill>
              <a:srgbClr val="8EAE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81144" y="4069080"/>
            <a:ext cx="310896" cy="310896"/>
          </a:xfrm>
          <a:prstGeom prst="ellipse">
            <a:avLst/>
          </a:prstGeom>
          <a:solidFill>
            <a:srgbClr val="1C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4398264"/>
            <a:ext cx="313639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4600" b="1">
                <a:solidFill>
                  <a:srgbClr val="1C5C8C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5166360"/>
            <a:ext cx="3099816" cy="34747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Confirmations awaiting reply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3794760"/>
            <a:ext cx="3502152" cy="1783080"/>
          </a:xfrm>
          <a:prstGeom prst="roundRect">
            <a:avLst>
              <a:gd name="adj" fmla="val 10000"/>
            </a:avLst>
          </a:prstGeom>
          <a:solidFill>
            <a:srgbClr val="F9F1E7"/>
          </a:solidFill>
          <a:ln w="12700">
            <a:solidFill>
              <a:srgbClr val="E0B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57615" y="4069080"/>
            <a:ext cx="310896" cy="310896"/>
          </a:xfrm>
          <a:prstGeom prst="ellipse">
            <a:avLst/>
          </a:prstGeom>
          <a:solidFill>
            <a:srgbClr val="C274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3" y="4398264"/>
            <a:ext cx="313639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4600" b="1">
                <a:solidFill>
                  <a:srgbClr val="C2740B"/>
                </a:solidFill>
                <a:latin typeface="Cambria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5166360"/>
            <a:ext cx="3099816" cy="34747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Documents pending / expired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2FB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5720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mbria"/>
              </a:rPr>
              <a:t>Priority Pending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10241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High priority · due today — from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–  Send confirmation — Capital Health Systems  (Finance)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–  Send confirmation — Riyadh Care Hospital  (Finance)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–  Send confirmation — Jeddah Medical Center  (Finance)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–  Send confirmation — Dammam Wholesale Co.  (Finance)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–  Send confirmation — Makkah Trading Est.  (Finance)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–  Send confirmation — Taibah Distributors  (Finance)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–  Send confirmation — Najran Supplies Co.  (Finance)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–  Send confirmation — Hail Retail Group  (Finance)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–  Send confirmation — National Spare Parts Est.  (Finance)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–  Send confirmation — Arabian Polymers Co.  (Finance)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11A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5720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mbria"/>
              </a:rPr>
              <a:t>Open / Pending Tickets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#1243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F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713232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850" b="1">
                <a:solidFill>
                  <a:srgbClr val="E11D48"/>
                </a:solidFill>
                <a:latin typeface="Calibri"/>
              </a:rPr>
              <a:t>HIGH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72768" y="1874519"/>
            <a:ext cx="786384" cy="274320"/>
          </a:xfrm>
          <a:prstGeom prst="roundRect">
            <a:avLst>
              <a:gd name="adj" fmla="val 40000"/>
            </a:avLst>
          </a:prstGeom>
          <a:solidFill>
            <a:srgbClr val="F4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1874519"/>
            <a:ext cx="786384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850" b="1">
                <a:solidFill>
                  <a:srgbClr val="C2740B"/>
                </a:solidFill>
                <a:latin typeface="Calibri"/>
              </a:rPr>
              <a:t>pending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490472"/>
            <a:ext cx="868680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Confirmation reply pending — Capital Health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892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Sara Al-Harbi · 2d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04872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96312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#1244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62072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F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62072"/>
            <a:ext cx="713232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850" b="1">
                <a:solidFill>
                  <a:srgbClr val="E11D48"/>
                </a:solidFill>
                <a:latin typeface="Calibri"/>
              </a:rP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72768" y="2862072"/>
            <a:ext cx="786384" cy="274320"/>
          </a:xfrm>
          <a:prstGeom prst="roundRect">
            <a:avLst>
              <a:gd name="adj" fmla="val 40000"/>
            </a:avLst>
          </a:prstGeom>
          <a:solidFill>
            <a:srgbClr val="D9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2768" y="2862072"/>
            <a:ext cx="786384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850" b="1">
                <a:solidFill>
                  <a:srgbClr val="2E7FC2"/>
                </a:solidFill>
                <a:latin typeface="Calibri"/>
              </a:rPr>
              <a:t>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478024"/>
            <a:ext cx="868680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Bank reconciliation variance — Riyadh Bank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880360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Omar Siddiqui · 1d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92424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83864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#1245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49624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F4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849624"/>
            <a:ext cx="713232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850" b="1">
                <a:solidFill>
                  <a:srgbClr val="C2740B"/>
                </a:solidFill>
                <a:latin typeface="Calibri"/>
              </a:rPr>
              <a:t>NORMAL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72768" y="3849624"/>
            <a:ext cx="786384" cy="274320"/>
          </a:xfrm>
          <a:prstGeom prst="roundRect">
            <a:avLst>
              <a:gd name="adj" fmla="val 40000"/>
            </a:avLst>
          </a:prstGeom>
          <a:solidFill>
            <a:srgbClr val="F4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72768" y="3849624"/>
            <a:ext cx="786384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850" b="1">
                <a:solidFill>
                  <a:srgbClr val="C2740B"/>
                </a:solidFill>
                <a:latin typeface="Calibri"/>
              </a:rPr>
              <a:t>pending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3465576"/>
            <a:ext cx="868680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Missing: supporting documents for major capital additions (PPE)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3867912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Nadia Hassan · 5d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79976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471416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#1246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837176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F4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37176"/>
            <a:ext cx="713232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850" b="1">
                <a:solidFill>
                  <a:srgbClr val="C2740B"/>
                </a:solidFill>
                <a:latin typeface="Calibri"/>
              </a:rPr>
              <a:t>NORMAL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72768" y="4837176"/>
            <a:ext cx="786384" cy="274320"/>
          </a:xfrm>
          <a:prstGeom prst="roundRect">
            <a:avLst>
              <a:gd name="adj" fmla="val 40000"/>
            </a:avLst>
          </a:prstGeom>
          <a:solidFill>
            <a:srgbClr val="D9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72768" y="4837176"/>
            <a:ext cx="786384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850" b="1">
                <a:solidFill>
                  <a:srgbClr val="2E7FC2"/>
                </a:solidFill>
                <a:latin typeface="Calibri"/>
              </a:rPr>
              <a:t>open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453128"/>
            <a:ext cx="868680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NAWRAS API export — payroll summary (Jan–Dec)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4855464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Maha Al-Otaibi · 1d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367528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458968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#1247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824728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FA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824728"/>
            <a:ext cx="713232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850" b="1">
                <a:solidFill>
                  <a:srgbClr val="E11D48"/>
                </a:solidFill>
                <a:latin typeface="Calibri"/>
              </a:rPr>
              <a:t>HIGH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72768" y="5824728"/>
            <a:ext cx="786384" cy="274320"/>
          </a:xfrm>
          <a:prstGeom prst="roundRect">
            <a:avLst>
              <a:gd name="adj" fmla="val 40000"/>
            </a:avLst>
          </a:prstGeom>
          <a:solidFill>
            <a:srgbClr val="F4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72768" y="5824728"/>
            <a:ext cx="786384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850" b="1">
                <a:solidFill>
                  <a:srgbClr val="C2740B"/>
                </a:solidFill>
                <a:latin typeface="Calibri"/>
              </a:rPr>
              <a:t>pending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6040" y="5440680"/>
            <a:ext cx="868680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Legal confirmation letter — litigation 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6040" y="5843016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Reem Al-Saleh · 3d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mbria"/>
              </a:rPr>
              <a:t>Evidence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440680" cy="4937760"/>
          </a:xfrm>
          <a:prstGeom prst="roundRect">
            <a:avLst>
              <a:gd name="adj" fmla="val 8000"/>
            </a:avLst>
          </a:prstGeom>
          <a:solidFill>
            <a:srgbClr val="ECF6F9"/>
          </a:solidFill>
          <a:ln w="12700">
            <a:solidFill>
              <a:srgbClr val="8AC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500" b="1">
                <a:solidFill>
                  <a:srgbClr val="1594B8"/>
                </a:solidFill>
                <a:latin typeface="Calibri"/>
              </a:rPr>
              <a:t>Missing required reports (4)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937760" cy="40233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</a:pPr>
            <a:r>
              <a:rPr sz="1350">
                <a:solidFill>
                  <a:srgbClr val="0F172A"/>
                </a:solidFill>
                <a:latin typeface="Calibri"/>
              </a:rPr>
              <a:t>–  Fixed Assets — major capital-additions support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0F172A"/>
                </a:solidFill>
                <a:latin typeface="Calibri"/>
              </a:rPr>
              <a:t>–  Finished Goods — NRV testing (subsequent sales report)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0F172A"/>
                </a:solidFill>
                <a:latin typeface="Calibri"/>
              </a:rPr>
              <a:t>–  Borrowings — loan amendments / waivers / covenant letters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0F172A"/>
                </a:solidFill>
                <a:latin typeface="Calibri"/>
              </a:rPr>
              <a:t>–  Other Income — miscellaneous other-income breakup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80160"/>
            <a:ext cx="5440680" cy="4937760"/>
          </a:xfrm>
          <a:prstGeom prst="roundRect">
            <a:avLst>
              <a:gd name="adj" fmla="val 8000"/>
            </a:avLst>
          </a:prstGeom>
          <a:solidFill>
            <a:srgbClr val="F9F1E7"/>
          </a:solidFill>
          <a:ln w="12700">
            <a:solidFill>
              <a:srgbClr val="DDB3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500" b="1">
                <a:solidFill>
                  <a:srgbClr val="C2740B"/>
                </a:solidFill>
                <a:latin typeface="Calibri"/>
              </a:rPr>
              <a:t>Documents pending / expired (8)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937760" cy="40233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–  GOSI Certificate  (expired)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–  Al Noor customer contract  (expired)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–  Facility Maintenance service agreement  (expired)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–  Capital Health customer contract  (pending)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–  SIDF loan agreement  (pending)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–  Staff Accommodation rent agreement  (pending)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–  National Spare Parts supplier agreement  (pending)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–  UBO Declaration  (pending)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mbria"/>
              </a:rPr>
              <a:t>External Confirmations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6949440" cy="4937760"/>
          </a:xfrm>
          <a:prstGeom prst="roundRect">
            <a:avLst>
              <a:gd name="adj" fmla="val 8000"/>
            </a:avLst>
          </a:prstGeom>
          <a:solidFill>
            <a:srgbClr val="F0F6FB"/>
          </a:solidFill>
          <a:ln w="12700">
            <a:solidFill>
              <a:srgbClr val="96B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44752"/>
            <a:ext cx="64922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500" b="1">
                <a:solidFill>
                  <a:srgbClr val="2E7FC2"/>
                </a:solidFill>
                <a:latin typeface="Calibri"/>
              </a:rPr>
              <a:t>To send — in sample, not yet sent (17)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6400800" cy="40233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400"/>
              </a:spcAft>
            </a:pPr>
            <a:r>
              <a:rPr sz="1250">
                <a:solidFill>
                  <a:srgbClr val="0F172A"/>
                </a:solidFill>
                <a:latin typeface="Calibri"/>
              </a:rPr>
              <a:t>–  Customers: Capital Health 750K · Riyadh Care 640K · Jeddah Medical 520K · Dammam 430K · Makkah 360K · Taibah 280K · Najran 190K · Hail 120K</a:t>
            </a:r>
          </a:p>
          <a:p>
            <a:pPr>
              <a:spcAft>
                <a:spcPts val="1400"/>
              </a:spcAft>
            </a:pPr>
            <a:r>
              <a:rPr sz="1250">
                <a:solidFill>
                  <a:srgbClr val="0F172A"/>
                </a:solidFill>
                <a:latin typeface="Calibri"/>
              </a:rPr>
              <a:t>–  Suppliers: National Spare Parts 410K · Arabian Polymers 350K · Red Sea Freight 300K · Desert Tools 250K · Modern Machinery 200K · Falcon 150K · Oasis 100K · Sahara 60K</a:t>
            </a:r>
          </a:p>
          <a:p>
            <a:pPr>
              <a:spcAft>
                <a:spcPts val="1400"/>
              </a:spcAft>
            </a:pPr>
            <a:r>
              <a:rPr sz="1250">
                <a:solidFill>
                  <a:srgbClr val="0F172A"/>
                </a:solidFill>
                <a:latin typeface="Calibri"/>
              </a:rPr>
              <a:t>–  Related party: Obeikan Paper Industries 780K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280160"/>
            <a:ext cx="3931920" cy="4937760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 w="12700">
            <a:solidFill>
              <a:srgbClr val="82A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444752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500" b="1">
                <a:solidFill>
                  <a:srgbClr val="1C5C8C"/>
                </a:solidFill>
                <a:latin typeface="Calibri"/>
              </a:rPr>
              <a:t>Awaiting reply 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965960"/>
            <a:ext cx="3520440" cy="40233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–  Eastern Province Distributors — 980K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–  Prime Logistics Co. — 560K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–  Obeikan Glass Co. (subsidiary) — 1,450K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