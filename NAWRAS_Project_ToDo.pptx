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Audit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54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7FD3C9"/>
                </a:solidFill>
                <a:latin typeface="Calibri"/>
              </a:rPr>
              <a:t>Project To-Do List — NAWRAS Five-Box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FC7CB"/>
                </a:solidFill>
                <a:latin typeface="Calibri"/>
              </a:rPr>
              <a:t>Master Data  ·  Box 1–5  ·  Auditor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Master Data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Engagement reference data (cover page), collected once during implementation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Company Information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Ability to configure business/entity data (name, reg. no, VAT no, FYE, currency, engagement date, timeline)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Link headers into cover pages, FS, confirmation letters, audit report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Audit Team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Configure audit firm &amp; engagement team (partner, manager, seniors + emails)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Feed sign-off blocks, engagement letter, comms sender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Key Internal Contacts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Configure client management contacts (CEO, CFO, FC, Treasury, HR, IT, Legal + emails)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Route confirmations &amp; queries to right contact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Banking Information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Add/remove multiple bank relationships (bank, account, RM, email, phone)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Feed Box 2 bank confirmations &amp; Box 4 bank recon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Legal Advisors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Configure legal counsel (firm, contact, email, phone)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Feed Box 2 legal/litigation confirmation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1 · Internal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2 · BOX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Document folders &amp; requirement checklists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Legal pack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Maintain statutory documents: CR, Articles of Association, SAGIA, VAT Registration, GOSI, Zakat Registration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Expiry tracking feeds dashboard pending actions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Group policies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Maintain group manuals: Accounting, HR, Supply Chain, IT, Authority Matrix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Marked OIG (blue) = parent/group-provided, auto-OK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Contracts &amp; agreements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Sub-folders: Customer, Supplier, Lease, Rent, Service, Bank loan agreements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Bank loan agreements cross-links to Box 4 Borrowings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Structure &amp; governance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Org Chart, Board Resolution appointing auditor, Shareholders Resolution, UBO Declaration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General &amp; Planning (requirements)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Going concern, PPE impairment, contingencies &amp; commitments, subsequent events, approved budget, fraud responses, capital approvals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Manual documents (no NAWRAS API)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Financial assumptions (requirements)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Basis of discount rate used in IFRS 16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Manual document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Related Party (requirements)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 of key management personnel — designation, role, compensation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Ties to Master Data contacts and Box 4 related party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1 · Internal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2 · BOX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Document handling &amp; workflow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Document handling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Two tabs per folder (Summary + Database); add entries one-by-one; 4-light status (uploaded / pending / expired / OIG)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Latest version only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Responsible person + reminders (all docs)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Each document has a responsible person in the group — configure their email and send reminder emails to upload / renew pending or expiring documents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Make owner email editable; add Send reminder + auto-schedule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OCR validity &amp; expiry check (all docs)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On upload, OCR the document to confirm validity and read its expiry date, then auto-flag if expired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Auto-drives the expired light; triggers 2.9 reminder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Document workflow (per document)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Stepper: Request → Assign to responsible person → Reminder → Upload → OCR check → Audit review / approve → Expiry monitor (auto re-request)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Mirrors Box 2 workflow; ties together 2.9 + 2.10 + status lights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2 · External Confirmations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3 · BOX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Confirmation types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Customer Confirmations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Circularise receivable balances directly to auditors (per-party list)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Pull live balances from AR ledger; recipients from Master Data contacts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Supplier Confirmations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Circularise payable balances directly to auditors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Pull live balances from AP ledger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Bank Confirmations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Confirm bank balances directly with each bank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Pull bank list from Master Data (Banking Information)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Related Party Confirmations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Confirm related-party balances (due to / due from)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 to Box 4 related-party list; stamped &amp; signed by authorised signatory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Legal Confirmations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Litigation confirmation — upload the lawyer's response letter (plain document, no workflow)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Pull law firm from Master Data (Legal Advisors)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2 · External Confirmations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3 · BOX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Sampling, workflow &amp; logging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Circularisation sampling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Select all / Top 50 / 40 / 20 / 10 by balance, plus per-row checkbox; run workflow on selected only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Sampling basis (by balance) to be logged for the file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Confirmation workflow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Generate → Approve → Send stepper per confirmation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"Send" currently simulated — wire to real email / SMTP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Reply logging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Record reply status (received / matched / difference) and view received letter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Auto-flag differences (Δ) for follow-up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Mail history + Sent Log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Per-confirmation mail history, mirrored to central Auditor Communications → Sent Log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Single source of truth for all sent correspondence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3 · General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4 · BOX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Trial balance → account → journal → source document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GL Dump engine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Load the full general-ledger dump — every account balance for the year, tying to the trial balance — then drill account → journal → source document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To be developed; feeds from NAWRAS ERP API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JE Dump engine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Load the complete journal-entry population — manual vs system, approvals, segregation of duties, cut-off and period controls — for journal-entry testing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To be developed; feeds from NAWRAS ERP API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Revenue drill-down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From any revenue figure drill to source set: sales order → GDN / delivery note → customer-acknowledged delivery challan → commercial invoice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Instructions shown; needs API to make live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Income-statement drill-down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Every income-statement line traces to its supporting schedules, the GL and source documents (incl. G&amp;A expense schedules, professional-service agreements, supporting invoices)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Needs API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Balance-sheet drill-down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Every balance-sheet line traces to its account, the movement schedule and supporting evidence — source documents and third-party confirmations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Needs API; links to Box 2 confirmations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GL / JE testing workflow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Stepper: Load dump → tie to trial balance → auto-flag risk (manual / weekend posting / no approval / period-end) → sample → drill to source → test → conclude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Mirrors Box 1 &amp; Box 2 workflow; risk flags already modelled in data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4 · Integrated Reports &amp; Recons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5 · BOX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Reconciliation framework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Bank Reconciliation panel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Book balance vs bank-statement balance with reconciling items (deposits in transit, outstanding cheques, unrecorded charges); drill into each recon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Built; wire to live bank feed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Reconciliation engine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Automated tie-out of each module report to its GL balance, with threshold/variance flags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To be developed; extends bank recon across all modules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Reconciliation workflow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Stepper: Pull module report → tie to GL → flag variance vs threshold → investigate → clear / raise query → conclude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Mirrors other boxes' workflow; raises tickets in Auditor Comms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4 · Balance Sheet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5 · BOX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Report folders (1 of 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5.4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Bank Statements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Bank statements for all banks (full year + subsequent to year end)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Manual upload (no API)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Bank Balances &amp; Reconciliation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Listing of all bank balances; December bank reconciliation for all accounts; direct bank confirmation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Links to 5.1 and Box 2 bank confirmations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Fixed Assets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FA register (opening, additions, disposals, depreciation); capex supports; disposal docs; depreciation methodology &amp; useful lives; land &amp; building ownership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Major capital additions support currently flagged missing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Assets Under Construction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AUC register / project-wise schedule; progress reports / % completion; cost breakdown per project with expected transfer dates to PPE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Right-of-Use Assets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Lease additions/disposals with ROU &amp; lease-liability calc; signed copies of all ROU contracts outstanding at year end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Links to Box 1 lease agreements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5.9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Investments &amp; Property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Investment valuation report; property valuation report; title-deed copies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5.10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Related Party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 of related parties &amp; relationships; balances due to/from; signed &amp; stamped confirmation; transfer-pricing details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Manual; ties to Box 2 RP confirmations &amp; Master Data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4 · Balance Sheet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5 · BOX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Report folders (2 of 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Accounts Receivables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Trade receivables + aging; subsequent receipts; outstanding invoices listing; advances from customers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Ties to Box 2 customer confirmations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ECL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ECL calculation on receivables with model, basis &amp; assumptions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Inventory — Raw Materials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Listing; movement (opening/purchases/issues/closing); valuation working; aging &amp; provision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Inventory — Work in Progress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Listing; movement; valuation (material/labour/overhead); production reports / stage of completion; aging &amp; provision; cut-off testing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Inventory — Finished Goods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Listing; movement; valuation (cost build-up, weighted average); dispatch notes near year end; aging &amp; provision; NRV testing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NRV testing currently flagged missing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Inventory — Spare Parts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Listing; movement; valuation (weighted average); aging &amp; provision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5.17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Prepayment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Breakup of advances, prepayments &amp; other assets; employee-wise advances; agreements &amp; invoices with payment support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4 · Balance Sheet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5 · BOX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Report folders (3 of 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ESOB (End of Service)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EOSB calculation per Saudi labour law (opening→closing movement); payments to leavers with settlement files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5.19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Actuarial Valuation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Actuarial valuation report; engagement letter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Manual upload (no API)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5.20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Borrowings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Signed loan agreements; amendments/waivers; repayment schedule; bank statements/advices + direct confirmation; interest computation; upfront-fee amortisation; interest-payment support; L/C charges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Signed loan agreements cross-link from Box 1; amendments flagged missing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5.21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Accounts Payable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Trade-payables schedule; subsequent invoices/payments; third-party confirmations; advances to suppliers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Ties to Box 2 supplier confirmations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5.22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Accruals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Accruals &amp; other-liabilities schedule with basis &amp; support; subsequent invoices/payments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4 · Income Statement &amp; Other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5 · BOX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Report folders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Party-wise revenue vouchers &amp; invoices (by product/customer/region); price lists, approval matrix &amp; master data; sales returns &amp; credit notes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Ties to Box 3 revenue drill-down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Purchase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All purchase orders for the year; material-cost breakup; production-cost breakdown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Employee Cost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Payroll summary Jan–Dec (names excluded); joiners &amp; leavers listing; employee loans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Other Income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Scrap-sale details with approval; miscellaneous other-income breakup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Misc other-income breakup flagged missing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5.27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Zakat and Tax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Zakat &amp; income-tax workings/payments and year-end payable; quarterly returns; VAT/WHT/deferred-tax calcs &amp; returns; open-assessment status &amp; correspondence; VAT-receivable calc (Q4)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5.28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Purchase Invoices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GRNs &amp; purchase invoices for raw materials and spare parts (PO, delivery challan, vendor invoice, GRN)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Box 5 · Financial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6 · BOX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Assembled statements and notes — every line traces back through reports, GL, confirmations, documents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Assembled financial statements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FS + notes populate automatically once the GL is connected to the NAWRAS ERP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To be developed; depends on Box 3 GL feed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One-click IFRS report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Generate print-ready IFRS statements — Statement of Financial Position, Statement of Profit or Loss &amp; OCI — with cover page (company, year, SOCPA/IFRS basis)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Built; currently from seeded GL → drive from live GL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Notes to the financial statements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Generate and maintain the notes to the FS, printed with the statements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Wire to live GL / disclosures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Full traceability (drill-down)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Every FS line traces back through the integrated reports, the GL, confirmations and source documents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Links Box 5 → Box 4 → Box 3 → Box 2 → Box 1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Reporting workflow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Assemble from GL → reconcile to Box 4 reports → generate IFRS statements + notes → audit review → partner sign-off → issue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Sign-off names from Master Data (Audit Team)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Auditor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Raise, classify, route &amp; notify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Raise an issue / query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Auditor can raise a query or request from anywhere — a box item, a confirmation difference, a missing document, a reconciliation variance — which opens a tracked ticket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Auto-create from source or manual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Classify the ticket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Set type (Query / Document Request / Confirmation / Reconciliation / Integration), severity (High / Normal / Low) and the related box / account / item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Severity drives escalation timing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Link to source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Every ticket links back to the exact item it concerns (document, confirmation, GL line, module report)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Two-way link so the box item shows "query open"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Assign owner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Assign each ticket to a responsible party — client contact or audit-team member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Pull people/emails from Master Data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Notify by email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On raise/assign, email the responsible person; replies flow back into the ticket thread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Real email/SMTP; client can respond without logging in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Reminders &amp; follow-ups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Auto-reminders for items still outstanding, at set intervals, plus manual "Chase now"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Ties to days-outstanding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Auditor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Pending items &amp; days outstanding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Pending items list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Single list of all outstanding items across every box — subject, owner, type, severity, status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The auditor's "what's still open" view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Days outstanding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Show days open per item, with aging buckets (0–3 / 4–7 / 8–14 / 15+ days)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Colour-coded; sortable by oldest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7.9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SLA &amp; escalation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Define response targets by severity; overdue items auto-escalate (High &gt; 3 days → manager, &gt; 7 → partner)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Escalation notification + flag on dashboard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7.10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Ownership &amp; aging by party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Group outstanding items by owner (client dept / team member) with counts and oldest item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Shows who is holding up the audit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Auditor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Communicate &amp; resolve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7.11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Message thread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Full message chain per ticket (auditor ↔ client ↔ system), with sender and timestamp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7.12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Attachments / evidence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Attach or receive documents directly on the ticket; accepted evidence updates the linked box item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Closes the loop with Box 1–4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7.13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Status lifecycle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Open → Pending → Answered → Closed, with reason on close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Built (Open/Pending/Closed) — extend with "Answered"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7.14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Bulk actions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Send all pending requests at once; chase all overdue; close resolved in bulk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Efficiency for large request lists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28090"/>
                </a:solidFill>
                <a:latin typeface="Calibri"/>
              </a:rPr>
              <a:t>Auditor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365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A7B82"/>
                </a:solidFill>
                <a:latin typeface="Calibri"/>
              </a:rPr>
              <a:t>TASK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A7B82"/>
                </a:solidFill>
                <a:latin typeface="Calibri"/>
              </a:rPr>
              <a:t>Oversight, assistant &amp; workflow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1965960"/>
                <a:gridCol w="4709160"/>
                <a:gridCol w="3273552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To-Do — capability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 / Next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L="54864" marR="54864" marT="27432" marB="27432"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Communication dashboard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Counts by status/severity, oldest outstanding, escalations, response-time trend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One-glance health of the engagement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7.16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Full audit trail / log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Immutable log of every request, reminder, reply and status change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Central Sent Log already receives Box 2 mail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7.17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Export for the file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Export the outstanding-items list and communication log (PDF / Excel) for the audit file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Working-paper evidence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7.18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Assistant Q&amp;A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Ask the assistant about the live audit file — progress, outstanding confirmations, missing items, oldest queries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Built (rule-based) → upgrade to Claude API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7.19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Assistant actions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Assistant can draft a request/reminder, summarise a thread, or list "what's overdue today"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Drafts require auditor approval before send</a:t>
                      </a:r>
                    </a:p>
                  </a:txBody>
                  <a:tcPr anchor="t" marL="54864" marR="54864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28090"/>
                          </a:solidFill>
                          <a:latin typeface="Calibri"/>
                        </a:rPr>
                        <a:t>7.20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Communication workflow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Stepper: Raise → classify &amp; link → assign → notify → track days outstanding → remind / escalate → receive response &amp; evidence → verify → close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A7B82"/>
                          </a:solidFill>
                          <a:latin typeface="Calibri"/>
                        </a:rPr>
                        <a:t>Ties Boxes 1–5 into one issue-to-closure loop</a:t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t" marL="54864" marR="54864" marT="27432" marB="27432">
                    <a:solidFill>
                      <a:srgbClr val="EA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